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Proxima Nova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Tahoma"/>
      <p:regular r:id="rId27"/>
      <p:bold r:id="rId28"/>
    </p:embeddedFont>
    <p:embeddedFont>
      <p:font typeface="Open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.fntdata"/><Relationship Id="rId22" Type="http://schemas.openxmlformats.org/officeDocument/2006/relationships/font" Target="fonts/ProximaNova-boldItalic.fntdata"/><Relationship Id="rId21" Type="http://schemas.openxmlformats.org/officeDocument/2006/relationships/font" Target="fonts/ProximaNova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Tahoma-bold.fntdata"/><Relationship Id="rId27" Type="http://schemas.openxmlformats.org/officeDocument/2006/relationships/font" Target="fonts/Tahoma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roximaNova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742e3e7cd_1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742e3e7cd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f97cc33e0f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2f97cc33e0f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97cc33e0f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2f97cc33e0f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f97cc33e0f_3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2f97cc33e0f_3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f97cc33e0f_3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f97cc33e0f_3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97cc33e0f_3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2f97cc33e0f_3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Table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f97cc33e0f_3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2f97cc33e0f_3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f97cc33e0f_3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2f97cc33e0f_3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Downstream systems query the timestamp field to retrieve records updated since the last execution.</a:t>
            </a:r>
            <a:endParaRPr b="1">
              <a:solidFill>
                <a:srgbClr val="59595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f97cc33e0f_3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2f97cc33e0f_3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Database triggers execute on events (INSERT, UPDATE, DELETE) to capture data changes. Changes are stored in a "shadow table" and can be published to messaging queues for target systems to subscribe to.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f97cc33e0f_3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2f97cc33e0f_3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Transaction logs capture all changes (INSERT, UPDATE, DELETE) in real-time. Target systems read from these logs, minimizing the computational load on the source database.</a:t>
            </a:r>
            <a:endParaRPr>
              <a:solidFill>
                <a:srgbClr val="59595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f97cc33e0f_3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2f97cc33e0f_3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d5f4b554c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d5f4b554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550895" y="727900"/>
            <a:ext cx="8568693" cy="30197"/>
            <a:chOff x="347370" y="459206"/>
            <a:chExt cx="5403037" cy="19050"/>
          </a:xfrm>
        </p:grpSpPr>
        <p:sp>
          <p:nvSpPr>
            <p:cNvPr id="52" name="Google Shape;52;p13"/>
            <p:cNvSpPr/>
            <p:nvPr/>
          </p:nvSpPr>
          <p:spPr>
            <a:xfrm>
              <a:off x="2154059" y="459206"/>
              <a:ext cx="1798320" cy="19050"/>
            </a:xfrm>
            <a:custGeom>
              <a:rect b="b" l="l" r="r" t="t"/>
              <a:pathLst>
                <a:path extrusionOk="0" h="19050" w="1798320">
                  <a:moveTo>
                    <a:pt x="1798027" y="0"/>
                  </a:moveTo>
                  <a:lnTo>
                    <a:pt x="0" y="0"/>
                  </a:lnTo>
                  <a:lnTo>
                    <a:pt x="0" y="19024"/>
                  </a:lnTo>
                  <a:lnTo>
                    <a:pt x="1798027" y="19024"/>
                  </a:lnTo>
                  <a:lnTo>
                    <a:pt x="1798027" y="0"/>
                  </a:lnTo>
                  <a:close/>
                </a:path>
              </a:pathLst>
            </a:custGeom>
            <a:solidFill>
              <a:srgbClr val="1D315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t/>
              </a:r>
              <a:endPara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13"/>
            <p:cNvSpPr/>
            <p:nvPr/>
          </p:nvSpPr>
          <p:spPr>
            <a:xfrm>
              <a:off x="3952087" y="459206"/>
              <a:ext cx="1798320" cy="19050"/>
            </a:xfrm>
            <a:custGeom>
              <a:rect b="b" l="l" r="r" t="t"/>
              <a:pathLst>
                <a:path extrusionOk="0" h="19050" w="1798320">
                  <a:moveTo>
                    <a:pt x="1798040" y="0"/>
                  </a:moveTo>
                  <a:lnTo>
                    <a:pt x="0" y="0"/>
                  </a:lnTo>
                  <a:lnTo>
                    <a:pt x="0" y="19024"/>
                  </a:lnTo>
                  <a:lnTo>
                    <a:pt x="1798040" y="19024"/>
                  </a:lnTo>
                  <a:lnTo>
                    <a:pt x="1798040" y="0"/>
                  </a:lnTo>
                  <a:close/>
                </a:path>
              </a:pathLst>
            </a:custGeom>
            <a:solidFill>
              <a:srgbClr val="F172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t/>
              </a:r>
              <a:endPara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13"/>
            <p:cNvSpPr/>
            <p:nvPr/>
          </p:nvSpPr>
          <p:spPr>
            <a:xfrm>
              <a:off x="347370" y="459206"/>
              <a:ext cx="1807210" cy="19050"/>
            </a:xfrm>
            <a:custGeom>
              <a:rect b="b" l="l" r="r" t="t"/>
              <a:pathLst>
                <a:path extrusionOk="0" h="19050" w="1807210">
                  <a:moveTo>
                    <a:pt x="1806689" y="0"/>
                  </a:moveTo>
                  <a:lnTo>
                    <a:pt x="0" y="0"/>
                  </a:lnTo>
                  <a:lnTo>
                    <a:pt x="0" y="19024"/>
                  </a:lnTo>
                  <a:lnTo>
                    <a:pt x="1806689" y="19024"/>
                  </a:lnTo>
                  <a:lnTo>
                    <a:pt x="1806689" y="0"/>
                  </a:lnTo>
                  <a:close/>
                </a:path>
              </a:pathLst>
            </a:custGeom>
            <a:solidFill>
              <a:srgbClr val="C0C4CA">
                <a:alpha val="8862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t/>
              </a:r>
              <a:endPara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642048" y="305869"/>
            <a:ext cx="2103120" cy="1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152401" y="228601"/>
            <a:ext cx="8762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304799" y="971550"/>
            <a:ext cx="4114800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■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4572000" y="971550"/>
            <a:ext cx="4114800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■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152401" y="4857751"/>
            <a:ext cx="1904999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124201" y="4857751"/>
            <a:ext cx="2895601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7239001" y="4857751"/>
            <a:ext cx="1904999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1300">
              <a:solidFill>
                <a:srgbClr val="1D31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OBJECT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2401" y="228601"/>
            <a:ext cx="8762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04799" y="971550"/>
            <a:ext cx="8382001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7239001" y="4857751"/>
            <a:ext cx="1904999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1300">
              <a:solidFill>
                <a:srgbClr val="1D31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 type="txAndTwoObj">
  <p:cSld name="TEXT_AND_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152401" y="228601"/>
            <a:ext cx="8762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304799" y="971550"/>
            <a:ext cx="4114800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2" type="body"/>
          </p:nvPr>
        </p:nvSpPr>
        <p:spPr>
          <a:xfrm>
            <a:off x="4572000" y="971550"/>
            <a:ext cx="4114800" cy="188594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3" type="body"/>
          </p:nvPr>
        </p:nvSpPr>
        <p:spPr>
          <a:xfrm>
            <a:off x="4572000" y="2971800"/>
            <a:ext cx="4114800" cy="188594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152401" y="4857751"/>
            <a:ext cx="1904999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124201" y="4857751"/>
            <a:ext cx="2895601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7239001" y="4857751"/>
            <a:ext cx="1904999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1300">
              <a:solidFill>
                <a:srgbClr val="1D31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/>
          <p:nvPr/>
        </p:nvSpPr>
        <p:spPr>
          <a:xfrm>
            <a:off x="11279" y="0"/>
            <a:ext cx="9119831" cy="5136454"/>
          </a:xfrm>
          <a:custGeom>
            <a:rect b="b" l="l" r="r" t="t"/>
            <a:pathLst>
              <a:path extrusionOk="0" h="3240405" w="5750560">
                <a:moveTo>
                  <a:pt x="5750179" y="0"/>
                </a:moveTo>
                <a:lnTo>
                  <a:pt x="0" y="0"/>
                </a:lnTo>
                <a:lnTo>
                  <a:pt x="0" y="3239998"/>
                </a:lnTo>
                <a:lnTo>
                  <a:pt x="5750179" y="3239998"/>
                </a:lnTo>
                <a:lnTo>
                  <a:pt x="5750179" y="0"/>
                </a:lnTo>
                <a:close/>
              </a:path>
            </a:pathLst>
          </a:custGeom>
          <a:solidFill>
            <a:srgbClr val="1D31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3060802" y="4420692"/>
            <a:ext cx="3035242" cy="45295"/>
          </a:xfrm>
          <a:custGeom>
            <a:rect b="b" l="l" r="r" t="t"/>
            <a:pathLst>
              <a:path extrusionOk="0" h="28575" w="1913889">
                <a:moveTo>
                  <a:pt x="1913661" y="0"/>
                </a:moveTo>
                <a:lnTo>
                  <a:pt x="0" y="0"/>
                </a:lnTo>
                <a:lnTo>
                  <a:pt x="0" y="28181"/>
                </a:lnTo>
                <a:lnTo>
                  <a:pt x="1913661" y="28181"/>
                </a:lnTo>
                <a:lnTo>
                  <a:pt x="191366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6095664" y="4420671"/>
            <a:ext cx="3035242" cy="45295"/>
          </a:xfrm>
          <a:custGeom>
            <a:rect b="b" l="l" r="r" t="t"/>
            <a:pathLst>
              <a:path extrusionOk="0" h="28575" w="1913889">
                <a:moveTo>
                  <a:pt x="1913661" y="0"/>
                </a:moveTo>
                <a:lnTo>
                  <a:pt x="0" y="0"/>
                </a:lnTo>
                <a:lnTo>
                  <a:pt x="0" y="28181"/>
                </a:lnTo>
                <a:lnTo>
                  <a:pt x="1913661" y="28181"/>
                </a:lnTo>
                <a:lnTo>
                  <a:pt x="1913661" y="0"/>
                </a:lnTo>
                <a:close/>
              </a:path>
            </a:pathLst>
          </a:custGeom>
          <a:solidFill>
            <a:srgbClr val="F172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11319" y="4420692"/>
            <a:ext cx="3050348" cy="45295"/>
          </a:xfrm>
          <a:custGeom>
            <a:rect b="b" l="l" r="r" t="t"/>
            <a:pathLst>
              <a:path extrusionOk="0" h="28575" w="1923414">
                <a:moveTo>
                  <a:pt x="1922868" y="0"/>
                </a:moveTo>
                <a:lnTo>
                  <a:pt x="0" y="0"/>
                </a:lnTo>
                <a:lnTo>
                  <a:pt x="0" y="28181"/>
                </a:lnTo>
                <a:lnTo>
                  <a:pt x="1922868" y="28181"/>
                </a:lnTo>
                <a:lnTo>
                  <a:pt x="1922868" y="0"/>
                </a:lnTo>
                <a:close/>
              </a:path>
            </a:pathLst>
          </a:custGeom>
          <a:solidFill>
            <a:srgbClr val="C0C4CA">
              <a:alpha val="8862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 txBox="1"/>
          <p:nvPr>
            <p:ph type="title"/>
          </p:nvPr>
        </p:nvSpPr>
        <p:spPr>
          <a:xfrm>
            <a:off x="524964" y="3566706"/>
            <a:ext cx="8094070" cy="611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3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3108960" y="4783454"/>
            <a:ext cx="2926080" cy="257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457200" y="4783454"/>
            <a:ext cx="2103120" cy="257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642048" y="305869"/>
            <a:ext cx="2103120" cy="1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9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19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19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Google Shape;94;p20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20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" name="Google Shape;105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" name="Google Shape;10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" name="Google Shape;112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3" name="Google Shape;11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6" name="Google Shape;11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" name="Google Shape;119;p26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26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1" name="Google Shape;121;p26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2" name="Google Shape;122;p2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126" name="Google Shape;12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8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130" name="Google Shape;130;p28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1" name="Google Shape;13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ite cloud in front of dark blue star-filled sky" id="138" name="Google Shape;138;p30"/>
          <p:cNvPicPr preferRelativeResize="0"/>
          <p:nvPr/>
        </p:nvPicPr>
        <p:blipFill rotWithShape="1">
          <a:blip r:embed="rId3">
            <a:alphaModFix/>
          </a:blip>
          <a:srcRect b="17068" l="0" r="1720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0"/>
          <p:cNvSpPr txBox="1"/>
          <p:nvPr>
            <p:ph type="ctrTitle"/>
          </p:nvPr>
        </p:nvSpPr>
        <p:spPr>
          <a:xfrm>
            <a:off x="-58950" y="1316925"/>
            <a:ext cx="92619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Tuần 5</a:t>
            </a:r>
            <a:endParaRPr sz="4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Change Data Capture</a:t>
            </a:r>
            <a:endParaRPr sz="4400"/>
          </a:p>
        </p:txBody>
      </p:sp>
      <p:sp>
        <p:nvSpPr>
          <p:cNvPr id="140" name="Google Shape;140;p30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TS. Phạm Tuấn</a:t>
            </a:r>
            <a:endParaRPr/>
          </a:p>
        </p:txBody>
      </p:sp>
      <p:sp>
        <p:nvSpPr>
          <p:cNvPr id="141" name="Google Shape;141;p30"/>
          <p:cNvSpPr txBox="1"/>
          <p:nvPr>
            <p:ph idx="1" type="subTitle"/>
          </p:nvPr>
        </p:nvSpPr>
        <p:spPr>
          <a:xfrm>
            <a:off x="510450" y="4370775"/>
            <a:ext cx="21225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ptuan@ute.udn.vn</a:t>
            </a:r>
            <a:endParaRPr sz="1800"/>
          </a:p>
        </p:txBody>
      </p:sp>
      <p:cxnSp>
        <p:nvCxnSpPr>
          <p:cNvPr id="142" name="Google Shape;142;p30"/>
          <p:cNvCxnSpPr/>
          <p:nvPr/>
        </p:nvCxnSpPr>
        <p:spPr>
          <a:xfrm>
            <a:off x="615150" y="2998025"/>
            <a:ext cx="500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What is CDC ?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300"/>
              <a:buNone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Change Data Capture (CDC) is a process that captures changes made to data in a database and ensures that these changes are reflected in other systems in real time. It's used to track and manage changes in a database.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4125" y="2398538"/>
            <a:ext cx="4215075" cy="2134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Why CDC ?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Eliminates Bulk Load Updates: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incremental data loading or real-time streaming.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Log-Based Efficiency: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captures changes from transaction logs, reducing system resource usage.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Zero-Downtime Migrations: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data movement, zero-downtime database migrations.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Synchronization Across Systems: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keeps data synchronized across systems, supporting time-sensitive decisions.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Optimized for Cloud &amp; Streaming: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efficiently transfers data across networks, ideal for cloud and stream processing with tools like Apache Kafka.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6" name="Google Shape;15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1300" y="2022088"/>
            <a:ext cx="4215076" cy="2370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  How Does Change Data Capture Work?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Changes in Source Databases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CDC tracks changes (INSERT, UPDATE, DELETE) in databases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Traditional Batch Processing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Syncs data in batch windows, causing delays and slowing down production databases.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Syncing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CDC ensures immediate updates to target databases, eliminating delays from batch processing.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Push vs. Pull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Approach Selection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Choose between push and pull based on your use case.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300"/>
              <a:buNone/>
            </a:pPr>
            <a:r>
              <a:t/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3" name="Google Shape;16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1" y="267719"/>
            <a:ext cx="8012525" cy="470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common DB logs used for Change Data Capture (CDC)</a:t>
            </a:r>
            <a:endParaRPr/>
          </a:p>
        </p:txBody>
      </p:sp>
      <p:sp>
        <p:nvSpPr>
          <p:cNvPr id="169" name="Google Shape;169;p34"/>
          <p:cNvSpPr txBox="1"/>
          <p:nvPr>
            <p:ph idx="1" type="body"/>
          </p:nvPr>
        </p:nvSpPr>
        <p:spPr>
          <a:xfrm>
            <a:off x="311700" y="1538425"/>
            <a:ext cx="8520600" cy="18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MySQL: Binary Logs (Binlogs)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PostgreSQL: Write-Ahead Logs (WAL)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MongoDB: Oplog (Operation Log)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Oracle: Redo Logs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SQL Server: Transaction Logs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Cassandra: Commit Logs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Push vs. Pull 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Push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The CDC system actively sends data changes to the target systems as soon as they occur.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Pull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The target system periodically queries the source system for changes and then processes them.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6" name="Google Shape;17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4125" y="1972575"/>
            <a:ext cx="4215075" cy="2134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Patterns and Methods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  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pen Sans"/>
              <a:buAutoNum type="alphaUcPeriod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Timestamp-based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pen Sans"/>
              <a:buAutoNum type="alphaUcPeriod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Trigger-based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pen Sans"/>
              <a:buAutoNum type="alphaUcPeriod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Log-based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3" name="Google Shape;18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3625" y="1849500"/>
            <a:ext cx="2817225" cy="281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Timestamp-based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  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37"/>
          <p:cNvSpPr txBox="1"/>
          <p:nvPr>
            <p:ph idx="1" type="body"/>
          </p:nvPr>
        </p:nvSpPr>
        <p:spPr>
          <a:xfrm>
            <a:off x="311700" y="1152475"/>
            <a:ext cx="4532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Easy to use and implement.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way to track changes over time.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Cannot process DELETE operations, only soft deletes.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Adds computational overhead by scanning rows for updates.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Requires changes to the 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existing 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 schema.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SzPts val="1300"/>
              <a:buNone/>
            </a:pPr>
            <a:r>
              <a:t/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0" name="Google Shape;19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4400" y="1719050"/>
            <a:ext cx="4158950" cy="194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Trigger-based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  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38"/>
          <p:cNvSpPr txBox="1"/>
          <p:nvPr>
            <p:ph idx="1" type="body"/>
          </p:nvPr>
        </p:nvSpPr>
        <p:spPr>
          <a:xfrm>
            <a:off x="311700" y="1152475"/>
            <a:ext cx="4315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Pros: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Captures all types of changes (INSERT, UPDATE, DELETE).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Widely supported by most databases.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Enables real-time data capture without polling.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impact database performance due to multiple writes.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Requires schema changes.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Becomes complex with many triggers.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SzPts val="1300"/>
              <a:buNone/>
            </a:pPr>
            <a:r>
              <a:t/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978450"/>
            <a:ext cx="4572000" cy="2276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Log-based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  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 computational overhead on source databases.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Captures all changes (INSERT, UPDATE, DELETE).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 need to alter source database schema.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3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standard format for transaction logs; varies by vendor.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 systems must handle rolled-back changes.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300"/>
              <a:buNone/>
            </a:pPr>
            <a:r>
              <a:t/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4" name="Google Shape;20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200050"/>
            <a:ext cx="4377424" cy="268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Use Cases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  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40"/>
          <p:cNvSpPr txBox="1"/>
          <p:nvPr>
            <p:ph idx="1" type="body"/>
          </p:nvPr>
        </p:nvSpPr>
        <p:spPr>
          <a:xfrm>
            <a:off x="311700" y="1152475"/>
            <a:ext cx="6732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Continuous Data Replication: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Ensures data consistency across multiple systems in real-time, useful for disaster recovery and cross-region deployments.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Integration with Microservices Architecture: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CDC enables decoupled microservices to access consistent, up-to-date data without tightly coupling systems.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Adoption: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Supports seamless migration of on-premise data to the cloud by capturing changes in real-time and ensuring minimal downtime during migration.</a:t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1" name="Google Shape;21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1588" y="1137961"/>
            <a:ext cx="2068785" cy="103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3563" y="2108213"/>
            <a:ext cx="1864842" cy="103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00100" y="2950888"/>
            <a:ext cx="1054650" cy="105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1"/>
          <p:cNvSpPr txBox="1"/>
          <p:nvPr>
            <p:ph idx="4294967295" type="title"/>
          </p:nvPr>
        </p:nvSpPr>
        <p:spPr>
          <a:xfrm>
            <a:off x="311700" y="709050"/>
            <a:ext cx="3890100" cy="372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200"/>
              <a:t>Any questions </a:t>
            </a:r>
            <a:r>
              <a:rPr lang="en" sz="3200"/>
              <a:t>?</a:t>
            </a:r>
            <a:endParaRPr sz="3600"/>
          </a:p>
        </p:txBody>
      </p:sp>
      <p:pic>
        <p:nvPicPr>
          <p:cNvPr id="219" name="Google Shape;219;p41"/>
          <p:cNvPicPr preferRelativeResize="0"/>
          <p:nvPr/>
        </p:nvPicPr>
        <p:blipFill rotWithShape="1">
          <a:blip r:embed="rId3">
            <a:alphaModFix/>
          </a:blip>
          <a:srcRect b="0" l="0" r="37826" t="0"/>
          <a:stretch/>
        </p:blipFill>
        <p:spPr>
          <a:xfrm>
            <a:off x="4548455" y="0"/>
            <a:ext cx="45955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