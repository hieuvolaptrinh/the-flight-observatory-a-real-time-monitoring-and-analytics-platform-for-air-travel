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Tahoma"/>
      <p:regular r:id="rId28"/>
      <p:bold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Tahoma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97cc33e0f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f97cc33e0f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97cc33e0f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2f97cc33e0f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97cc33e0f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2f97cc33e0f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97cc33e0f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97cc33e0f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97cc33e0f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2f97cc33e0f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Table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97cc33e0f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f97cc33e0f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97cc33e0f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f97cc33e0f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Downstream systems query the timestamp field to retrieve records updated since the last execution.</a:t>
            </a:r>
            <a:endParaRPr b="1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97cc33e0f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f97cc33e0f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Database triggers execute on events (INSERT, UPDATE, DELETE) to capture data changes. Changes are stored in a "shadow table" and can be published to messaging queues for target systems to subscribe to.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97cc33e0f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f97cc33e0f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Transaction logs capture all changes (INSERT, UPDATE, DELETE) in real-time. Target systems read from these logs, minimizing the computational load on the source database.</a:t>
            </a:r>
            <a:endParaRPr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97cc33e0f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f97cc33e0f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97cc33e0f_3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2f97cc33e0f_3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d5f4b554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d5f4b55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550895" y="727900"/>
            <a:ext cx="8568693" cy="30197"/>
            <a:chOff x="347370" y="459206"/>
            <a:chExt cx="5403037" cy="19050"/>
          </a:xfrm>
        </p:grpSpPr>
        <p:sp>
          <p:nvSpPr>
            <p:cNvPr id="52" name="Google Shape;52;p13"/>
            <p:cNvSpPr/>
            <p:nvPr/>
          </p:nvSpPr>
          <p:spPr>
            <a:xfrm>
              <a:off x="2154059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27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27" y="19024"/>
                  </a:lnTo>
                  <a:lnTo>
                    <a:pt x="1798027" y="0"/>
                  </a:lnTo>
                  <a:close/>
                </a:path>
              </a:pathLst>
            </a:custGeom>
            <a:solidFill>
              <a:srgbClr val="1D31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3952087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40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40" y="19024"/>
                  </a:lnTo>
                  <a:lnTo>
                    <a:pt x="1798040" y="0"/>
                  </a:lnTo>
                  <a:close/>
                </a:path>
              </a:pathLst>
            </a:custGeom>
            <a:solidFill>
              <a:srgbClr val="F172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47370" y="459206"/>
              <a:ext cx="1807210" cy="19050"/>
            </a:xfrm>
            <a:custGeom>
              <a:rect b="b" l="l" r="r" t="t"/>
              <a:pathLst>
                <a:path extrusionOk="0" h="19050" w="1807210">
                  <a:moveTo>
                    <a:pt x="1806689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806689" y="19024"/>
                  </a:lnTo>
                  <a:lnTo>
                    <a:pt x="1806689" y="0"/>
                  </a:lnTo>
                  <a:close/>
                </a:path>
              </a:pathLst>
            </a:custGeom>
            <a:solidFill>
              <a:srgbClr val="C0C4CA">
                <a:alpha val="8862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0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04799" y="971550"/>
            <a:ext cx="8382001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572000" y="97155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3" type="body"/>
          </p:nvPr>
        </p:nvSpPr>
        <p:spPr>
          <a:xfrm>
            <a:off x="4572000" y="297180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11279" y="0"/>
            <a:ext cx="9119831" cy="5136454"/>
          </a:xfrm>
          <a:custGeom>
            <a:rect b="b" l="l" r="r" t="t"/>
            <a:pathLst>
              <a:path extrusionOk="0" h="3240405" w="5750560">
                <a:moveTo>
                  <a:pt x="5750179" y="0"/>
                </a:moveTo>
                <a:lnTo>
                  <a:pt x="0" y="0"/>
                </a:lnTo>
                <a:lnTo>
                  <a:pt x="0" y="3239998"/>
                </a:lnTo>
                <a:lnTo>
                  <a:pt x="5750179" y="3239998"/>
                </a:lnTo>
                <a:lnTo>
                  <a:pt x="5750179" y="0"/>
                </a:lnTo>
                <a:close/>
              </a:path>
            </a:pathLst>
          </a:custGeom>
          <a:solidFill>
            <a:srgbClr val="1D31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060802" y="4420692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095664" y="4420671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172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1319" y="4420692"/>
            <a:ext cx="3050348" cy="45295"/>
          </a:xfrm>
          <a:custGeom>
            <a:rect b="b" l="l" r="r" t="t"/>
            <a:pathLst>
              <a:path extrusionOk="0" h="28575" w="1923414">
                <a:moveTo>
                  <a:pt x="1922868" y="0"/>
                </a:moveTo>
                <a:lnTo>
                  <a:pt x="0" y="0"/>
                </a:lnTo>
                <a:lnTo>
                  <a:pt x="0" y="28181"/>
                </a:lnTo>
                <a:lnTo>
                  <a:pt x="1922868" y="28181"/>
                </a:lnTo>
                <a:lnTo>
                  <a:pt x="1922868" y="0"/>
                </a:lnTo>
                <a:close/>
              </a:path>
            </a:pathLst>
          </a:custGeom>
          <a:solidFill>
            <a:srgbClr val="C0C4CA">
              <a:alpha val="8862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24964" y="3566706"/>
            <a:ext cx="8094070" cy="611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108960" y="4783454"/>
            <a:ext cx="292608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4"/>
            <a:ext cx="210312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9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2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2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2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6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8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loud in front of dark blue star-filled sky" id="138" name="Google Shape;138;p30"/>
          <p:cNvPicPr preferRelativeResize="0"/>
          <p:nvPr/>
        </p:nvPicPr>
        <p:blipFill rotWithShape="1">
          <a:blip r:embed="rId3">
            <a:alphaModFix/>
          </a:blip>
          <a:srcRect b="17068" l="0" r="172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>
            <p:ph type="ctrTitle"/>
          </p:nvPr>
        </p:nvSpPr>
        <p:spPr>
          <a:xfrm>
            <a:off x="-58950" y="1316925"/>
            <a:ext cx="92619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Tuần 5</a:t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Change Data Capture</a:t>
            </a:r>
            <a:endParaRPr sz="4400"/>
          </a:p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TS. Phạm Tuấn</a:t>
            </a:r>
            <a:endParaRPr/>
          </a:p>
        </p:txBody>
      </p:sp>
      <p:sp>
        <p:nvSpPr>
          <p:cNvPr id="141" name="Google Shape;141;p30"/>
          <p:cNvSpPr txBox="1"/>
          <p:nvPr>
            <p:ph idx="1" type="subTitle"/>
          </p:nvPr>
        </p:nvSpPr>
        <p:spPr>
          <a:xfrm>
            <a:off x="510450" y="4370775"/>
            <a:ext cx="21225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ptuan@ute.udn.vn</a:t>
            </a:r>
            <a:endParaRPr sz="1800"/>
          </a:p>
        </p:txBody>
      </p:sp>
      <p:cxnSp>
        <p:nvCxnSpPr>
          <p:cNvPr id="142" name="Google Shape;142;p30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What is CDC ?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Change Data Capture (CDC) is a process that captures changes made to data in a database and ensures that these changes are reflected in other systems in real time. It's used to track and manage changes in a database.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4125" y="2398538"/>
            <a:ext cx="4215075" cy="2134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Why CDC ?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Eliminates Bulk Load Updates: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incremental data loading or real-time streaming.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Log-Based Efficiency: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changes from transaction logs, reducing system resource usage.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Zero-Downtime Migrations: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data movement, zero-downtime database migrations.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Synchronization Across Systems: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keeps data synchronized across systems, supporting time-sensitive decisions.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for Cloud &amp; Streaming: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efficiently transfers data across networks, ideal for cloud and stream processing with tools like Apache Kafka.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6" name="Google Shape;1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1300" y="2022088"/>
            <a:ext cx="4215076" cy="2370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How Does Change Data Capture Work?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Changes in Source Databases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CDC tracks changes (INSERT, UPDATE, DELETE) in databases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Batch Processing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Syncs data in batch windows, causing delays and slowing down production databases.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Syncing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CDC ensures immediate updates to target databases, eliminating delays from batch processing.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vs. Pull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 Selection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Choose between push and pull based on your use case.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1" y="267719"/>
            <a:ext cx="8012525" cy="47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common DB logs used for Change Data Capture (CDC)</a:t>
            </a:r>
            <a:endParaRPr/>
          </a:p>
        </p:txBody>
      </p:sp>
      <p:sp>
        <p:nvSpPr>
          <p:cNvPr id="169" name="Google Shape;169;p34"/>
          <p:cNvSpPr txBox="1"/>
          <p:nvPr>
            <p:ph idx="1" type="body"/>
          </p:nvPr>
        </p:nvSpPr>
        <p:spPr>
          <a:xfrm>
            <a:off x="311700" y="1538425"/>
            <a:ext cx="8520600" cy="18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MySQL: Binary Logs (Binlogs)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PostgreSQL: Write-Ahead Logs (WAL)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MongoDB: Oplog (Operation Log)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Oracle: Redo Logs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Server: Transaction Logs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Cassandra: Commit Logs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Push vs. Pull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CDC system actively sends data changes to the target systems as soon as they occur.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target system periodically queries the source system for changes and then processes them.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6" name="Google Shape;17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125" y="1972575"/>
            <a:ext cx="4215075" cy="213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Patterns and Methods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AutoNum type="alphaU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Timestamp-based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AutoNum type="alphaU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Trigger-based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AutoNum type="alphaU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Log-based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3" name="Google Shape;1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3625" y="1849500"/>
            <a:ext cx="2817225" cy="28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Timestamp-based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11700" y="1152475"/>
            <a:ext cx="4532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to use and implement.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way to track changes over time.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process DELETE operations, only soft deletes.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Adds computational overhead by scanning rows for updates.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changes to the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existing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schema.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0" name="Google Shape;19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400" y="1719050"/>
            <a:ext cx="4158950" cy="19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Trigger-based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8"/>
          <p:cNvSpPr txBox="1"/>
          <p:nvPr>
            <p:ph idx="1" type="body"/>
          </p:nvPr>
        </p:nvSpPr>
        <p:spPr>
          <a:xfrm>
            <a:off x="311700" y="1152475"/>
            <a:ext cx="4315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all types of changes (INSERT, UPDATE, DELETE).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Widely supported by most databases.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real-time data capture without polling.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impact database performance due to multiple writes.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schema changes.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Becomes complex with many triggers.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025" y="1978450"/>
            <a:ext cx="3776875" cy="18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Log-based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 computational overhead on source databases.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all changes (INSERT, UPDATE, DELETE).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 need to alter source database schema.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3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standard format for transaction logs; varies by vendor.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systems must handle rolled-back changes.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4" name="Google Shape;2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200050"/>
            <a:ext cx="4377424" cy="26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Use Cases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  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311700" y="1152475"/>
            <a:ext cx="673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Data Replication: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data consistency across multiple systems in real-time, useful for disaster recovery and cross-region deployments.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with Microservices Architecture: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CDC enables decoupled microservices to access consistent, up-to-date data without tightly coupling systems.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Adoption: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Supports seamless migration of on-premise data to the cloud by capturing changes in real-time and ensuring minimal downtime during migration.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1" name="Google Shape;21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1588" y="1137961"/>
            <a:ext cx="2068785" cy="103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3563" y="2108213"/>
            <a:ext cx="1864842" cy="103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0100" y="2950888"/>
            <a:ext cx="1054650" cy="10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Exercise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19" name="Google Shape;219;p41"/>
          <p:cNvSpPr txBox="1"/>
          <p:nvPr>
            <p:ph idx="1" type="body"/>
          </p:nvPr>
        </p:nvSpPr>
        <p:spPr>
          <a:xfrm>
            <a:off x="311700" y="1152475"/>
            <a:ext cx="8315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4294967295" type="title"/>
          </p:nvPr>
        </p:nvSpPr>
        <p:spPr>
          <a:xfrm>
            <a:off x="311700" y="709050"/>
            <a:ext cx="3890100" cy="37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200"/>
              <a:t>Any questions </a:t>
            </a:r>
            <a:r>
              <a:rPr lang="en" sz="3200"/>
              <a:t>?</a:t>
            </a:r>
            <a:endParaRPr sz="3600"/>
          </a:p>
        </p:txBody>
      </p:sp>
      <p:pic>
        <p:nvPicPr>
          <p:cNvPr id="225" name="Google Shape;225;p42"/>
          <p:cNvPicPr preferRelativeResize="0"/>
          <p:nvPr/>
        </p:nvPicPr>
        <p:blipFill rotWithShape="1">
          <a:blip r:embed="rId3">
            <a:alphaModFix/>
          </a:blip>
          <a:srcRect b="0" l="0" r="37826" t="0"/>
          <a:stretch/>
        </p:blipFill>
        <p:spPr>
          <a:xfrm>
            <a:off x="4548455" y="0"/>
            <a:ext cx="4595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